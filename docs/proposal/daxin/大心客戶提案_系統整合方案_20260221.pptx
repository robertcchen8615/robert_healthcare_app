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大心居家護理所</a:t>
            </a:r>
          </a:p>
          <a:p>
            <a:r>
              <a:t>系統整合專案提案書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客戶版｜2026-02-21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系統整合專案提案書（客戶版）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提案日期：2026-02-21</a:t>
            </a:r>
          </a:p>
          <a:p>
            <a:pPr>
              <a:defRPr sz="2000"/>
            </a:pPr>
            <a:r>
              <a:t>提案期間：2026-03-01 至 2026-06-30</a:t>
            </a:r>
          </a:p>
          <a:p>
            <a:pPr>
              <a:defRPr sz="2000"/>
            </a:pPr>
            <a:r>
              <a:t>提案對象：大心居家護理所（居家護理 + 長照居服）</a:t>
            </a:r>
          </a:p>
          <a:p>
            <a:pPr>
              <a:defRPr sz="2000"/>
            </a:pPr>
            <a:r>
              <a:t>提案主軸：以最小變動、最低風險完成「三核心系統 + n8n」整合上線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執行摘要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本提案以「保留既有優勢系統、補上跨系統自動化」為原則，將現行多系統分散作業收斂為：</a:t>
            </a:r>
          </a:p>
          <a:p>
            <a:pPr>
              <a:defRPr sz="2000"/>
            </a:pPr>
            <a:r>
              <a:t>健保居護核心：`neoCare`（保留）</a:t>
            </a:r>
          </a:p>
          <a:p>
            <a:pPr>
              <a:defRPr sz="2000"/>
            </a:pPr>
            <a:r>
              <a:t>長照居服核心：`JUBO`（果雲升級路徑）</a:t>
            </a:r>
          </a:p>
          <a:p>
            <a:pPr>
              <a:defRPr sz="2000"/>
            </a:pPr>
            <a:r>
              <a:t>人事差勤核心：`WorkDo`（替代 MAYO）</a:t>
            </a:r>
          </a:p>
          <a:p>
            <a:pPr>
              <a:defRPr sz="2000"/>
            </a:pPr>
            <a:r>
              <a:t>自動化整合中介：`n8n`（自架、零授權）</a:t>
            </a:r>
          </a:p>
          <a:p>
            <a:pPr>
              <a:defRPr sz="2000"/>
            </a:pPr>
            <a:r>
              <a:t>預期成果（2026-06-30 前）</a:t>
            </a:r>
          </a:p>
          <a:p>
            <a:pPr>
              <a:defRPr sz="2000"/>
            </a:pPr>
            <a:r>
              <a:t>薪資整合流程自動化上線（2026-03-31）</a:t>
            </a:r>
          </a:p>
          <a:p>
            <a:pPr>
              <a:defRPr sz="2000"/>
            </a:pPr>
            <a:r>
              <a:t>每日病歷/照護紀錄備份機制上線（2026-04-30）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客戶痛點與目標對應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目前痛點</a:t>
            </a:r>
          </a:p>
          <a:p>
            <a:pPr>
              <a:defRPr sz="2000"/>
            </a:pPr>
            <a:r>
              <a:t>同筆資料跨系統重複輸入，行政耗時高</a:t>
            </a:r>
          </a:p>
          <a:p>
            <a:pPr>
              <a:defRPr sz="2000"/>
            </a:pPr>
            <a:r>
              <a:t>打卡、排班、請假、服務紀錄無法自動對帳</a:t>
            </a:r>
          </a:p>
          <a:p>
            <a:pPr>
              <a:defRPr sz="2000"/>
            </a:pPr>
            <a:r>
              <a:t>人員操作介面過多，教育成本高</a:t>
            </a:r>
          </a:p>
          <a:p>
            <a:pPr>
              <a:defRPr sz="2000"/>
            </a:pPr>
            <a:r>
              <a:t>備份與稽核軌跡不足，合規風險存在</a:t>
            </a:r>
          </a:p>
          <a:p>
            <a:pPr>
              <a:defRPr sz="2000"/>
            </a:pPr>
            <a:r>
              <a:t>對應目標</a:t>
            </a:r>
          </a:p>
          <a:p>
            <a:pPr>
              <a:defRPr sz="2000"/>
            </a:pPr>
            <a:r>
              <a:t>系統收斂：7 套降至 3 套核心系統</a:t>
            </a:r>
          </a:p>
          <a:p>
            <a:pPr>
              <a:defRPr sz="2000"/>
            </a:pPr>
            <a:r>
              <a:t>流程自動化：建立 n8n 中介層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整合方案設計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3.1 目標架構</a:t>
            </a:r>
          </a:p>
          <a:p>
            <a:pPr>
              <a:defRPr sz="2000"/>
            </a:pPr>
            <a:r>
              <a:t>`neoCare`：健保申報、病歷、巡診排班（維持主系統）</a:t>
            </a:r>
          </a:p>
          <a:p>
            <a:pPr>
              <a:defRPr sz="2000"/>
            </a:pPr>
            <a:r>
              <a:t>`JUBO`：長照排班、照服管理、長照核銷（果雲遷移）</a:t>
            </a:r>
          </a:p>
          <a:p>
            <a:pPr>
              <a:defRPr sz="2000"/>
            </a:pPr>
            <a:r>
              <a:t>`WorkDo`：GPS 打卡、請假、核銷、內部溝通</a:t>
            </a:r>
          </a:p>
          <a:p>
            <a:pPr>
              <a:defRPr sz="2000"/>
            </a:pPr>
            <a:r>
              <a:t>`n8n`：API/檔案流程編排、排程、通知、告警與資料中轉</a:t>
            </a:r>
          </a:p>
          <a:p>
            <a:pPr>
              <a:defRPr sz="2000"/>
            </a:pPr>
            <a:r>
              <a:t>3.2 關鍵工作流</a:t>
            </a:r>
          </a:p>
          <a:p>
            <a:pPr>
              <a:defRPr sz="2000"/>
            </a:pPr>
            <a:r>
              <a:t>1. 薪資整合工作流（每月最後工作日）</a:t>
            </a:r>
          </a:p>
          <a:p>
            <a:pPr>
              <a:defRPr sz="2000"/>
            </a:pPr>
            <a:r>
              <a:t>來源：WorkDo 打卡/請假 + neoCare/JUBO 排班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專案時程與里程碑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1：啟動與準備（2026-03-01～2026-03-14）</a:t>
            </a:r>
          </a:p>
          <a:p>
            <a:pPr>
              <a:defRPr sz="2000"/>
            </a:pPr>
            <a:r>
              <a:t>MAYO 合約盤點與退場策略確認</a:t>
            </a:r>
          </a:p>
          <a:p>
            <a:pPr>
              <a:defRPr sz="2000"/>
            </a:pPr>
            <a:r>
              <a:t>果雲→JUBO 遷移方案與資料欄位盤點</a:t>
            </a:r>
          </a:p>
          <a:p>
            <a:pPr>
              <a:defRPr sz="2000"/>
            </a:pPr>
            <a:r>
              <a:t>WorkDo 帳號建置與教育訓練排程</a:t>
            </a:r>
          </a:p>
          <a:p>
            <a:pPr>
              <a:defRPr sz="2000"/>
            </a:pPr>
            <a:r>
              <a:t>n8n 測試環境建置與 API 權限取得</a:t>
            </a:r>
          </a:p>
          <a:p>
            <a:pPr>
              <a:defRPr sz="2000"/>
            </a:pPr>
            <a:r>
              <a:t>Phase 2：薪資自動化上線（2026-03-15～2026-03-31）</a:t>
            </a:r>
          </a:p>
          <a:p>
            <a:pPr>
              <a:defRPr sz="2000"/>
            </a:pPr>
            <a:r>
              <a:t>開發 WorkDo + neoCare/JUBO 薪資整合流程</a:t>
            </a:r>
          </a:p>
          <a:p>
            <a:pPr>
              <a:defRPr sz="2000"/>
            </a:pPr>
            <a:r>
              <a:t>進行平行試算與差異修正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交付範圍（Deliverables）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系統整合藍圖（架構圖 + 欄位對應表）</a:t>
            </a:r>
          </a:p>
          <a:p>
            <a:pPr>
              <a:defRPr sz="2000"/>
            </a:pPr>
            <a:r>
              <a:t>n8n 工作流（薪資整合、每日備份）</a:t>
            </a:r>
          </a:p>
          <a:p>
            <a:pPr>
              <a:defRPr sz="2000"/>
            </a:pPr>
            <a:r>
              <a:t>監控與告警設定（Email/通知）</a:t>
            </a:r>
          </a:p>
          <a:p>
            <a:pPr>
              <a:defRPr sz="2000"/>
            </a:pPr>
            <a:r>
              <a:t>測試文件（UAT 測試案例與結果）</a:t>
            </a:r>
          </a:p>
          <a:p>
            <a:pPr>
              <a:defRPr sz="2000"/>
            </a:pPr>
            <a:r>
              <a:t>操作手冊（IT 管理版 + 使用者版）</a:t>
            </a:r>
          </a:p>
          <a:p>
            <a:pPr>
              <a:defRPr sz="2000"/>
            </a:pPr>
            <a:r>
              <a:t>驗收報告（KPI 與改善效益）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KPI 與驗收標準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薪資核算人工工時下降 `&gt;= 50%`</a:t>
            </a:r>
          </a:p>
          <a:p>
            <a:pPr>
              <a:defRPr sz="2000"/>
            </a:pPr>
            <a:r>
              <a:t>每日備份成功率 `&gt;= 99%`</a:t>
            </a:r>
          </a:p>
          <a:p>
            <a:pPr>
              <a:defRPr sz="2000"/>
            </a:pPr>
            <a:r>
              <a:t>異常告警觸發時間 `&lt;= 30 分鐘`</a:t>
            </a:r>
          </a:p>
          <a:p>
            <a:pPr>
              <a:defRPr sz="2000"/>
            </a:pPr>
            <a:r>
              <a:t>WorkDo 打卡覆蓋率 `&gt;= 95%`</a:t>
            </a:r>
          </a:p>
          <a:p>
            <a:pPr>
              <a:defRPr sz="2000"/>
            </a:pPr>
            <a:r>
              <a:t>每月固定產出薪資報表且可稽核追溯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角色分工（RACI 摘要）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行政主管：A（決策與跨部門協調）</a:t>
            </a:r>
          </a:p>
          <a:p>
            <a:pPr>
              <a:defRPr sz="2000"/>
            </a:pPr>
            <a:r>
              <a:t>IT/資訊：R（環境建置、介接、維運）</a:t>
            </a:r>
          </a:p>
          <a:p>
            <a:pPr>
              <a:defRPr sz="2000"/>
            </a:pPr>
            <a:r>
              <a:t>n8n 開發：R（流程開發、測試、上線）</a:t>
            </a:r>
          </a:p>
          <a:p>
            <a:pPr>
              <a:defRPr sz="2000"/>
            </a:pPr>
            <a:r>
              <a:t>主任護理師 / 居服督導：C（業務流程驗證）</a:t>
            </a:r>
          </a:p>
          <a:p>
            <a:pPr>
              <a:defRPr sz="2000"/>
            </a:pPr>
            <a:r>
              <a:t>人資顧問：A/C（計薪規則確認與驗收）</a:t>
            </a:r>
          </a:p>
          <a:p>
            <a:pPr>
              <a:defRPr sz="2000"/>
            </a:pPr>
            <a:r>
              <a:t>系統供應商（neoCare/JUBO/WorkDo）：C（API、資料遷移與技術支援）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預算與商務方案（提案版）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一次性導入費（專案期）</a:t>
            </a:r>
          </a:p>
          <a:p>
            <a:pPr>
              <a:defRPr sz="2000"/>
            </a:pPr>
            <a:r>
              <a:t>方案 A（標準導入）：NT$ 280,000</a:t>
            </a:r>
          </a:p>
          <a:p>
            <a:pPr>
              <a:defRPr sz="2000"/>
            </a:pPr>
            <a:r>
              <a:t>含 2 條核心工作流 + 基本監控 + 教育訓練</a:t>
            </a:r>
          </a:p>
          <a:p>
            <a:pPr>
              <a:defRPr sz="2000"/>
            </a:pPr>
            <a:r>
              <a:t>方案 B（進階導入）：NT$ 420,000</a:t>
            </a:r>
          </a:p>
          <a:p>
            <a:pPr>
              <a:defRPr sz="2000"/>
            </a:pPr>
            <a:r>
              <a:t>含標準導入 + 進階報表 + 稽核追蹤強化 + 上線後優化 2 個月</a:t>
            </a:r>
          </a:p>
          <a:p>
            <a:pPr>
              <a:defRPr sz="2000"/>
            </a:pPr>
            <a:r>
              <a:t>維運服務（月費）</a:t>
            </a:r>
          </a:p>
          <a:p>
            <a:pPr>
              <a:defRPr sz="2000"/>
            </a:pPr>
            <a:r>
              <a:t>基礎維運：NT$ 18,000/月（監控、備份檢查、每月例行調整）</a:t>
            </a:r>
          </a:p>
          <a:p>
            <a:pPr>
              <a:defRPr sz="2000"/>
            </a:pPr>
            <a:r>
              <a:t>進階維運：NT$ 35,000/月（含流程優化、異常調查、月度顧問會議）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風險控管與保證機制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主要風險</a:t>
            </a:r>
          </a:p>
          <a:p>
            <a:pPr>
              <a:defRPr sz="2000"/>
            </a:pPr>
            <a:r>
              <a:t>使用者導入抗拒</a:t>
            </a:r>
          </a:p>
          <a:p>
            <a:pPr>
              <a:defRPr sz="2000"/>
            </a:pPr>
            <a:r>
              <a:t>果雲→JUBO 資料遺失或欄位不一致</a:t>
            </a:r>
          </a:p>
          <a:p>
            <a:pPr>
              <a:defRPr sz="2000"/>
            </a:pPr>
            <a:r>
              <a:t>API/憑證異常導致流程中斷</a:t>
            </a:r>
          </a:p>
          <a:p>
            <a:pPr>
              <a:defRPr sz="2000"/>
            </a:pPr>
            <a:r>
              <a:t>病歷保存與稽核規範落差</a:t>
            </a:r>
          </a:p>
          <a:p>
            <a:pPr>
              <a:defRPr sz="2000"/>
            </a:pPr>
            <a:r>
              <a:t>因應措施</a:t>
            </a:r>
          </a:p>
          <a:p>
            <a:pPr>
              <a:defRPr sz="2000"/>
            </a:pPr>
            <a:r>
              <a:t>1 個月導入緩衝與雙軌並行</a:t>
            </a:r>
          </a:p>
          <a:p>
            <a:pPr>
              <a:defRPr sz="2000"/>
            </a:pPr>
            <a:r>
              <a:t>遷移前完整備份、遷移後逐筆抽驗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前置需求與假設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客戶需提供 API 權限或穩定匯出機制（CSV/JSON）</a:t>
            </a:r>
          </a:p>
          <a:p>
            <a:pPr>
              <a:defRPr sz="2000"/>
            </a:pPr>
            <a:r>
              <a:t>客戶需指定專案窗口（行政、護理、居服、IT 各 1 人）</a:t>
            </a:r>
          </a:p>
          <a:p>
            <a:pPr>
              <a:defRPr sz="2000"/>
            </a:pPr>
            <a:r>
              <a:t>合約與資料權責需於 Phase 1 完成確認</a:t>
            </a:r>
          </a:p>
          <a:p>
            <a:pPr>
              <a:defRPr sz="2000"/>
            </a:pPr>
            <a:r>
              <a:t>驗收日以 2026-06-30 為目標，若供應商介接延遲則需同步調整里程碑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提案結論與建議決策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建議大心採「分階段可驗收」策略：</a:t>
            </a:r>
          </a:p>
          <a:p>
            <a:pPr>
              <a:defRPr sz="2000"/>
            </a:pPr>
            <a:r>
              <a:t>先完成 3 月薪資整合（直接支援人資）</a:t>
            </a:r>
          </a:p>
          <a:p>
            <a:pPr>
              <a:defRPr sz="2000"/>
            </a:pPr>
            <a:r>
              <a:t>再完成 4 月每日備份（強化合規）</a:t>
            </a:r>
          </a:p>
          <a:p>
            <a:pPr>
              <a:defRPr sz="2000"/>
            </a:pPr>
            <a:r>
              <a:t>最後於 6 月完成全案驗收與交接</a:t>
            </a:r>
          </a:p>
          <a:p>
            <a:pPr>
              <a:defRPr sz="2000"/>
            </a:pPr>
            <a:r>
              <a:t>此路徑可在不重建核心系統的前提下，最快取得可量化效益，且整體風險最低。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參考來源（官方文件）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neoCare/Neova: https://neov.ai/products</a:t>
            </a:r>
          </a:p>
          <a:p>
            <a:pPr>
              <a:defRPr sz="2000"/>
            </a:pPr>
            <a:r>
              <a:t>JUBO: https://jubo-health.com/service/</a:t>
            </a:r>
          </a:p>
          <a:p>
            <a:pPr>
              <a:defRPr sz="2000"/>
            </a:pPr>
            <a:r>
              <a:t>WorkDo: https://portal.workdo.co/en/features/</a:t>
            </a:r>
          </a:p>
          <a:p>
            <a:pPr>
              <a:defRPr sz="2000"/>
            </a:pPr>
            <a:r>
              <a:t>n8n docs: https://docs.n8n.io/hosting/</a:t>
            </a:r>
          </a:p>
          <a:p>
            <a:pPr>
              <a:defRPr sz="2000"/>
            </a:pPr>
            <a:r>
              <a:t>MAYOHR: https://www.mayohr.com/tw</a:t>
            </a:r>
          </a:p>
          <a:p>
            <a:pPr>
              <a:defRPr sz="2000"/>
            </a:pPr>
            <a:r>
              <a:t>本地蒐集檔案與索引：</a:t>
            </a:r>
          </a:p>
          <a:p>
            <a:pPr>
              <a:defRPr sz="2000"/>
            </a:pPr>
            <a:r>
              <a:t>`/Users/robertchen/Desktop/AI AGENT LAB/大心居護所_系統公司文件蒐集_20260221/99_index/document_manifest.csv`</a:t>
            </a:r>
          </a:p>
          <a:p>
            <a:pPr>
              <a:defRPr sz="2000"/>
            </a:pPr>
            <a:r>
              <a:t>`/Users/robertchen/Desktop/AI AGENT LAB/大心居護所_系統公司文件蒐集_20260221/99_index/research_summary.md`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附件｜來源文件與索引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官方來源索引：document_manifest.csv</a:t>
            </a:r>
          </a:p>
          <a:p>
            <a:pPr>
              <a:defRPr sz="1800"/>
            </a:pPr>
            <a:r>
              <a:t>研究摘要：research_summary.md</a:t>
            </a:r>
          </a:p>
          <a:p>
            <a:pPr>
              <a:defRPr sz="1800"/>
            </a:pPr>
            <a:r>
              <a:t>系統擷取摘要：systems_extracted_from_plan.md</a:t>
            </a:r>
          </a:p>
          <a:p>
            <a:pPr>
              <a:defRPr sz="1800"/>
            </a:pPr>
            <a:r>
              <a:t>路徑：/Users/robertchen/Desktop/AI AGENT LAB/大心居護所_系統公司文件蒐集_20260221/99_index/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